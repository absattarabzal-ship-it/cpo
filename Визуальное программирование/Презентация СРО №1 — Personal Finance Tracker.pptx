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Inter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Italic.fntdata"/><Relationship Id="rId6" Type="http://schemas.openxmlformats.org/officeDocument/2006/relationships/slide" Target="slides/slide1.xml"/><Relationship Id="rId18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10.jpg"/><Relationship Id="rId5" Type="http://schemas.openxmlformats.org/officeDocument/2006/relationships/image" Target="../media/image2.png"/><Relationship Id="rId6" Type="http://schemas.openxmlformats.org/officeDocument/2006/relationships/image" Target="../media/image16.gif"/><Relationship Id="rId7" Type="http://schemas.openxmlformats.org/officeDocument/2006/relationships/image" Target="../media/image20.gif"/><Relationship Id="rId8" Type="http://schemas.openxmlformats.org/officeDocument/2006/relationships/image" Target="../media/image18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jpg"/><Relationship Id="rId4" Type="http://schemas.openxmlformats.org/officeDocument/2006/relationships/image" Target="../media/image11.png"/><Relationship Id="rId5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9.png"/><Relationship Id="rId5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4142333"/>
            <a:ext cx="6667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4142333"/>
            <a:ext cx="66675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08686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609600" y="2582167"/>
            <a:ext cx="11251406" cy="56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Personal Finance Tracker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09600" y="3304133"/>
            <a:ext cx="6953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Разработка настольного GUI-приложения для учёта доходов и расходов на JavaFX, FXML и Scene Builder (Вариант 3)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990600" y="2124967"/>
            <a:ext cx="495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ВИЗУАЛЬНОЕ ПРОГРАММИРОВАНИЕ • СРО №1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09600" y="4380458"/>
            <a:ext cx="350043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Специальность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09600" y="4580483"/>
            <a:ext cx="350043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6B06101 Информационные системы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3867150" y="4380458"/>
            <a:ext cx="229790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Технологии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3867150" y="4580483"/>
            <a:ext cx="229790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Java 17 / JavaFX / Maven</a:t>
            </a:r>
            <a:endParaRPr/>
          </a:p>
        </p:txBody>
      </p:sp>
      <p:pic>
        <p:nvPicPr>
          <p:cNvPr descr="a logo for javafx with a cup of coffee and smoke (источник: Tenor)" id="94" name="Google Shape;9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62850" y="2641621"/>
            <a:ext cx="4272079" cy="1782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609600" y="3124200"/>
            <a:ext cx="3505200" cy="1600200"/>
          </a:xfrm>
          <a:prstGeom prst="roundRect">
            <a:avLst>
              <a:gd fmla="val 714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4343400" y="3124200"/>
            <a:ext cx="3505200" cy="1600200"/>
          </a:xfrm>
          <a:prstGeom prst="roundRect">
            <a:avLst>
              <a:gd fmla="val 714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8077200" y="3124200"/>
            <a:ext cx="3505200" cy="1600200"/>
          </a:xfrm>
          <a:prstGeom prst="roundRect">
            <a:avLst>
              <a:gd fmla="val 7142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6300" y="33909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0100" y="339090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3900" y="33909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ЦЕЛИ И ЗАДАЧИ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09600" y="733425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Цели проекта и соответствие СРО №1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76300" y="3771900"/>
            <a:ext cx="39004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Цель работы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76300" y="4076700"/>
            <a:ext cx="30670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Закрепление навыков проектирования GUI и обработки событий в JavaFX.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4610100" y="3771900"/>
            <a:ext cx="39004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Архитектура MVC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4610100" y="4076700"/>
            <a:ext cx="30670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Разделение разметки FXML и логики Java Controller.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343900" y="3771900"/>
            <a:ext cx="3848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Валидация данных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343900" y="4076700"/>
            <a:ext cx="30670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Безопасный ввод без аварийного завершения программы.</a:t>
            </a:r>
            <a:endParaRPr/>
          </a:p>
        </p:txBody>
      </p:sp>
      <p:pic>
        <p:nvPicPr>
          <p:cNvPr descr="a man is giving a presentation in front of a white board that says ' team ' on it (источник: Tenor)" id="113" name="Google Shape;113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4350" y="1333500"/>
            <a:ext cx="2441669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man is pointing at a keyboard with the words time to steal this for my project (источник: Tenor)" id="114" name="Google Shape;114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05450" y="1333500"/>
            <a:ext cx="3066472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t is sitting at a desk with an apple laptop and a cup of coffee (источник: Tenor)" id="115" name="Google Shape;115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01350" y="1200150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yalty-Free photo: Man working on Macbook at lake | PickPik" id="116" name="Google Shape;116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665875" y="1333500"/>
            <a:ext cx="2745086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"/>
          <p:cNvSpPr/>
          <p:nvPr/>
        </p:nvSpPr>
        <p:spPr>
          <a:xfrm>
            <a:off x="5981700" y="3038475"/>
            <a:ext cx="5600700" cy="1733550"/>
          </a:xfrm>
          <a:prstGeom prst="roundRect">
            <a:avLst>
              <a:gd fmla="val 6593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СТЕК ТЕХНОЛОГИЙ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09600" y="733425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Инструменты разработки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09600" y="3119437"/>
            <a:ext cx="6238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Java 17: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Основной язык реализации бизнес-логики.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09600" y="3509962"/>
            <a:ext cx="6238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JavaFX 17: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Фреймворк UI-компонентов и событий.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09600" y="3900487"/>
            <a:ext cx="6238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Scene Builder: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Визуальное проектирование FXML-форм.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09600" y="4291012"/>
            <a:ext cx="50863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Apache Maven: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Автоматизация сборки и управления зависимостями.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286500" y="3343275"/>
            <a:ext cx="1066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Модуль UI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9677400" y="3343275"/>
            <a:ext cx="2000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FXML / Scene Builder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286500" y="3810000"/>
            <a:ext cx="1333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Контроллеры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0039350" y="3810000"/>
            <a:ext cx="154781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Java Controllers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286500" y="4276725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Хранение данных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10144125" y="4276725"/>
            <a:ext cx="14192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ObservableList</a:t>
            </a:r>
            <a:endParaRPr/>
          </a:p>
        </p:txBody>
      </p:sp>
      <p:pic>
        <p:nvPicPr>
          <p:cNvPr descr="Файл:Лого Международный Университет Информационных Технологий.jpg ..." id="134" name="Google Shape;13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425" y="1066787"/>
            <a:ext cx="2082826" cy="18621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плоская стилизованная голова робота с шестернями для логотипа ..." id="135" name="Google Shape;13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1750" y="1293025"/>
            <a:ext cx="3692169" cy="1862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скусственный интеллект, типография, ИИ, чип, технология, печатная ..." id="136" name="Google Shape;13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11675" y="1293025"/>
            <a:ext cx="2327672" cy="1862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/>
          <p:nvPr/>
        </p:nvSpPr>
        <p:spPr>
          <a:xfrm>
            <a:off x="609600" y="3138487"/>
            <a:ext cx="3505200" cy="1533525"/>
          </a:xfrm>
          <a:prstGeom prst="roundRect">
            <a:avLst>
              <a:gd fmla="val 745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4343400" y="3138487"/>
            <a:ext cx="3505200" cy="1533525"/>
          </a:xfrm>
          <a:prstGeom prst="roundRect">
            <a:avLst>
              <a:gd fmla="val 745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8077200" y="3138487"/>
            <a:ext cx="3505200" cy="1533525"/>
          </a:xfrm>
          <a:prstGeom prst="roundRect">
            <a:avLst>
              <a:gd fmla="val 745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АРХИТЕКТУРА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09600" y="733425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Шаблон проектирования Model-View-Controller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85825" y="3414712"/>
            <a:ext cx="36909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MODEL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85825" y="3719512"/>
            <a:ext cx="387548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Transaction.java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85825" y="4033837"/>
            <a:ext cx="3048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Сущность финансовой операции: сумма, дата, категория, тип и описание.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4619625" y="3414712"/>
            <a:ext cx="36909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VIEW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4619625" y="3719512"/>
            <a:ext cx="387548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main.fxml &amp; dialog.fxml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4619625" y="4033837"/>
            <a:ext cx="3048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Декларативное описание макетов с контейнерами BorderPane и GridPane.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8353425" y="3414712"/>
            <a:ext cx="36909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CONTROLLER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353425" y="3719512"/>
            <a:ext cx="38385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MainController.java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8353425" y="4033837"/>
            <a:ext cx="3048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Логика обработки событий, фильтрация данных и расчёт баланса.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057400"/>
            <a:ext cx="534352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" y="2066925"/>
            <a:ext cx="532447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ПОЛЬЗОВАТЕЛЬСКИЙ ИНТЕРФЕЙС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09600" y="733425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Главное окно приложения (Main UI)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257925" y="2876550"/>
            <a:ext cx="54197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MenuBar &amp; ToolBar: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Быстрый доступ к добавлению, редактированию и горячим клавишам.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257925" y="3409950"/>
            <a:ext cx="54197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TableView Component: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Отображение списка операций с поддержкой сопоставления колонок.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257925" y="3943350"/>
            <a:ext cx="54197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10+ Демо-записей: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Стартовый набор данных для мгновенного тестирования.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257925" y="4476750"/>
            <a:ext cx="54197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Status Bar: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Панель текущего финансового состояния в нижней части экрана.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/>
          <p:nvPr/>
        </p:nvSpPr>
        <p:spPr>
          <a:xfrm>
            <a:off x="609600" y="3319462"/>
            <a:ext cx="3505200" cy="1171575"/>
          </a:xfrm>
          <a:prstGeom prst="roundRect">
            <a:avLst>
              <a:gd fmla="val 975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4343400" y="3319462"/>
            <a:ext cx="3505200" cy="1171575"/>
          </a:xfrm>
          <a:prstGeom prst="roundRect">
            <a:avLst>
              <a:gd fmla="val 975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8077200" y="3319462"/>
            <a:ext cx="3505200" cy="1171575"/>
          </a:xfrm>
          <a:prstGeom prst="roundRect">
            <a:avLst>
              <a:gd fmla="val 975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МНОГООКОННОСТЬ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609600" y="733425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Форма ввода и редактирования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876300" y="3586162"/>
            <a:ext cx="39004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ComboBox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876300" y="3862387"/>
            <a:ext cx="30670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Выбор типа финансовой операции: «Доход» или «Расход».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4610100" y="3586162"/>
            <a:ext cx="39004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DatePicker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4610100" y="3862387"/>
            <a:ext cx="30670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Интерактивный элемент выбора даты совершения платежа.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8343900" y="3586162"/>
            <a:ext cx="3848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GridPane Layout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8343900" y="3862387"/>
            <a:ext cx="30670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Сетка выравнивания полей ввода категории, суммы и описания.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/>
          <p:nvPr/>
        </p:nvSpPr>
        <p:spPr>
          <a:xfrm>
            <a:off x="609600" y="3357562"/>
            <a:ext cx="3505200" cy="10953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4343400" y="3357562"/>
            <a:ext cx="3505200" cy="10953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8077200" y="3357562"/>
            <a:ext cx="3505200" cy="10953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609600" y="3357562"/>
            <a:ext cx="38100" cy="10953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4343400" y="3357562"/>
            <a:ext cx="38100" cy="10953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8077200" y="3357562"/>
            <a:ext cx="38100" cy="10953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ФУНКЦИОНАЛЬНОСТЬ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609600" y="733425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Поиск, фильтрация и автоматический расчёт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876300" y="3586162"/>
            <a:ext cx="395049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FilteredList Wrapper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876300" y="3862387"/>
            <a:ext cx="31051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Динамический поиск по описанию и категории в реальном времени.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4610100" y="3586162"/>
            <a:ext cx="395049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Фильтр категорий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4610100" y="3862387"/>
            <a:ext cx="31051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Отбор операций по типам («Все», «Доходы», «Расходы»).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8343900" y="3586162"/>
            <a:ext cx="38481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Расчёт баланса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8343900" y="3862387"/>
            <a:ext cx="31051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Автоматическое суммирование доходов и расходов в контроллере.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/>
          <p:nvPr/>
        </p:nvSpPr>
        <p:spPr>
          <a:xfrm>
            <a:off x="609600" y="2857500"/>
            <a:ext cx="5334000" cy="2095500"/>
          </a:xfrm>
          <a:prstGeom prst="roundRect">
            <a:avLst>
              <a:gd fmla="val 545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6248400" y="2857500"/>
            <a:ext cx="5334000" cy="2095500"/>
          </a:xfrm>
          <a:prstGeom prst="roundRect">
            <a:avLst>
              <a:gd fmla="val 545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6" name="Google Shape;20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16230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3200" y="3162300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НАДЁЖНОСТЬ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609600" y="733425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Обработка ошибок и удобство использования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914400" y="3162300"/>
            <a:ext cx="481965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rPr>
              <a:t>Диалоги Alert.AlertType.ERROR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6553200" y="3162300"/>
            <a:ext cx="481965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Ctrl+N (Новый) / Ctrl+Q (Выход)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914400" y="3581400"/>
            <a:ext cx="6200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Валидация полей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914400" y="3924300"/>
            <a:ext cx="48196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Проверка числового формата суммы и корректности заполнения текстовых полей.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6553200" y="3581400"/>
            <a:ext cx="563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Горячие клавиши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6553200" y="3924300"/>
            <a:ext cx="48196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Ускоренный вызов функций с помощью комбинаций клавиш клавиатуры.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/>
          <p:cNvSpPr/>
          <p:nvPr/>
        </p:nvSpPr>
        <p:spPr>
          <a:xfrm>
            <a:off x="609600" y="3186112"/>
            <a:ext cx="3505200" cy="1438275"/>
          </a:xfrm>
          <a:prstGeom prst="roundRect">
            <a:avLst>
              <a:gd fmla="val 794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4343400" y="3186112"/>
            <a:ext cx="3505200" cy="1438275"/>
          </a:xfrm>
          <a:prstGeom prst="roundRect">
            <a:avLst>
              <a:gd fmla="val 794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8077200" y="3186112"/>
            <a:ext cx="3505200" cy="1438275"/>
          </a:xfrm>
          <a:prstGeom prst="roundRect">
            <a:avLst>
              <a:gd fmla="val 794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3" name="Google Shape;22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414712"/>
            <a:ext cx="2190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341471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05800" y="3414712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СДАЧА РАБОТЫ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609600" y="733425"/>
            <a:ext cx="11582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Структура репозитория и артефакты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838200" y="3757612"/>
            <a:ext cx="4000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GitHub Репозиторий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838200" y="4033837"/>
            <a:ext cx="3143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Исходный код Maven-проекта и файл README.md с инструкцией.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4572000" y="3757612"/>
            <a:ext cx="4000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Отчёт (PDF)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4572000" y="4033837"/>
            <a:ext cx="3143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Документ на 8-12 страниц с описанием архитектуры и тестов.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8305800" y="3757612"/>
            <a:ext cx="38862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Защита проекта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8305800" y="4033837"/>
            <a:ext cx="3143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Демонстрация работы приложения и ответов на вопросы.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/>
          <p:nvPr/>
        </p:nvSpPr>
        <p:spPr>
          <a:xfrm>
            <a:off x="4324350" y="4267200"/>
            <a:ext cx="3543300" cy="438150"/>
          </a:xfrm>
          <a:prstGeom prst="roundRect">
            <a:avLst>
              <a:gd fmla="val 17391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9" name="Google Shape;23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400" y="21526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2939355" y="2838450"/>
            <a:ext cx="631328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Спасибо за внимание!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2524125" y="3505200"/>
            <a:ext cx="7143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Готов ответить на вопросы и продемонстрировать работы приложения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4110000" y="4375225"/>
            <a:ext cx="397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Personal Finance Tracker • JavaFX Project</a:t>
            </a:r>
            <a:endParaRPr b="0" i="0" sz="1200" u="none" cap="none" strike="noStrike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Выполнил Абдусаттар Абзал</a:t>
            </a:r>
            <a:endParaRPr sz="12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
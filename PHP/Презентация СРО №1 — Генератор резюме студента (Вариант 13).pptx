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Inter"/>
      <ns0:bold ns1:id="rIdFont16"/>
      <ns0:regular ns1:id="rIdFont17"/>
    </ns0:embeddedFont>
    <ns0:embeddedFont>
      <ns0:font typeface="JetBrains Mono"/>
      <ns0:regular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48c39c6c-3824-43c1-852f-8084b5730fc7.fntdata" /><ns0:Relationship Id="rIdFont17" Type="http://schemas.openxmlformats.org/officeDocument/2006/relationships/font" Target="fonts/2376ae89-8cad-4e72-a6ba-a6b5de912665.fntdata" /><ns0:Relationship Id="rIdFont18" Type="http://schemas.openxmlformats.org/officeDocument/2006/relationships/font" Target="fonts/4787a61a-92d6-4e44-b561-e6854ada3efa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944242"/>
            <a:ext cx="7924800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944242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256532"/>
            <a:ext cx="9906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АЛМАТИНСКИЙ ТЕХНОЛОГИЧЕСКИЙ УНИВЕРСИТЕТ • СРО №1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561332"/>
            <a:ext cx="10401300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FFFFFF"/>
                </a:solidFill>
                <a:latin typeface="Inter"/>
              </a:rPr>
              <a:t>Генератор резюме студента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277492"/>
            <a:ext cx="9906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Многошаговое веб-приложение на PHP 8.4 с экспортом в JSON. Вариант №13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220467"/>
            <a:ext cx="2500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Inter"/>
              </a:rPr>
              <a:t>ВЫПОЛНИЛ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410967"/>
            <a:ext cx="2500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Абдусаттар А. (ИС-24-22)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7050" y="4220467"/>
            <a:ext cx="3059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Inter"/>
              </a:rPr>
              <a:t>ПРОВЕРИЛ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7050" y="4410967"/>
            <a:ext cx="30599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Сеньор-лектор Рашидинов Д.Р.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2175" y="4220467"/>
            <a:ext cx="3202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Inter"/>
              </a:rPr>
              <a:t>РЕПОЗИТОРИЙ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2175" y="4410967"/>
            <a:ext cx="3202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GitHub: student-resume-generator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725810"/>
            <a:ext cx="5324475" cy="1395412"/>
          </a:xfrm>
          <a:prstGeom prst="roundRect">
            <a:avLst>
              <a:gd name="adj" fmla="val 81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273623"/>
            <a:ext cx="5324475" cy="1395412"/>
          </a:xfrm>
          <a:prstGeom prst="roundRect">
            <a:avLst>
              <a:gd name="adj" fmla="val 8191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821435"/>
            <a:ext cx="5324475" cy="118110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1863923"/>
            <a:ext cx="5343525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873448"/>
            <a:ext cx="5324475" cy="398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1978223"/>
            <a:ext cx="1333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3526035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5073848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КОНТЕКСТ И ЦЕЛИ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Актуальность, цель и возможности сервиса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" y="1963935"/>
            <a:ext cx="5736431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Проблема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2240160"/>
            <a:ext cx="486727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Студенты часто допускают ошибки при оформлении первого CV, пропуская важные разделы и ключевую информацию для работодателя.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525" y="3511748"/>
            <a:ext cx="5698331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Inter"/>
              </a:rPr>
              <a:t>Цель проекта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787973"/>
            <a:ext cx="486727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C4A6E"/>
                </a:solidFill>
                <a:latin typeface="Inter"/>
              </a:rPr>
              <a:t>Создание удобного пошагового мастера (Wizard), помогающего студенту сформировать структурированное резюме и экспортировать его.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525" y="5059560"/>
            <a:ext cx="5698331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Итоговый результат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5335785"/>
            <a:ext cx="48672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Безопасный предпросмотр резюме (HTML) и возможность скачивания данных в формате </a:t>
            </a:r>
            <a:r>
              <a:rPr b="1" sz="1125" i="0" u="none">
                <a:solidFill>
                  <a:srgbClr val="475569"/>
                </a:solidFill>
                <a:latin typeface="Inter"/>
              </a:rPr>
              <a:t>JSON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66467"/>
            <a:ext cx="3505200" cy="1395412"/>
          </a:xfrm>
          <a:prstGeom prst="roundRect">
            <a:avLst>
              <a:gd name="adj" fmla="val 81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73623"/>
            <a:ext cx="3505200" cy="118110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66467"/>
            <a:ext cx="3505200" cy="1395412"/>
          </a:xfrm>
          <a:prstGeom prst="roundRect">
            <a:avLst>
              <a:gd name="adj" fmla="val 81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418879"/>
            <a:ext cx="15240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526035"/>
            <a:ext cx="219075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418879"/>
            <a:ext cx="219075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АРХИТЕКТУРА МАСТЕРА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Многошаговая форма ввода (Wizard)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475" y="3404592"/>
            <a:ext cx="344328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Шаг 1: Профиль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680817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Личные данные: ФИО, E-mail, контактный телефон и краткое описание целей поиска работы.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3950" y="3511748"/>
            <a:ext cx="3376612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Шаг 2: Образование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787973"/>
            <a:ext cx="3048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ВУЗ, специальность, курс обучения, средний балл (GPA) и год окончания.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0" y="3404592"/>
            <a:ext cx="3376612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Шаг 3: Навыки и Проекты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680817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Ключевые компетенции, владение стек-технологиями и описание выполненных учебных проектов.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73510"/>
            <a:ext cx="5562600" cy="2981325"/>
          </a:xfrm>
          <a:prstGeom prst="roundRect">
            <a:avLst>
              <a:gd name="adj" fmla="val 319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77000" y="2606873"/>
            <a:ext cx="5105400" cy="118110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77000" y="3940373"/>
            <a:ext cx="5105400" cy="118110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225" y="2859285"/>
            <a:ext cx="19050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225" y="4192785"/>
            <a:ext cx="190500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СТРУКТУРА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Архитектура проекта и изолированный каталог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564010"/>
            <a:ext cx="5200650" cy="2600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8FAFC"/>
                </a:solidFill>
                <a:latin typeface="JetBrains Mono"/>
              </a:rPr>
              <a:t>resume-generator/ ├── public/ # Точка входа │ └── index.php # Front Controller ├── src/ # Бизнес-логика │ ├── validator.php # Валидатор полей │ ├── session_store.php # Хранилище сессий │ └── security.php # CSRF и экранирование ├── templates/ # Шаблоны шагов │ ├── step1_profile.php │ ├── step2_education.php │ ├── step3_skills.php │ └── preview.php # Итоговый просмотр └── var/data/ # Файлы экспорта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564010"/>
            <a:ext cx="5200650" cy="2600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8FAFC"/>
                </a:solidFill>
                <a:latin typeface="monospace"/>
              </a:rPr>
              <a:t>resume-generator/ ├── public/ # Точка входа │ └── index.php # Front Controller ├── src/ # Бизнес-логика │ ├── validator.php # Валидатор полей │ ├── session_store.php # Хранилище сессий │ └── security.php # CSRF и экранирование ├── templates/ # Шаблоны шагов │ ├── step1_profile.php │ ├── step2_education.php │ ├── step3_skills.php │ └── preview.php # Итоговый просмотр └── var/data/ # Файлы экспорта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8975" y="2844998"/>
            <a:ext cx="515302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Сессионный кэш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3225" y="3121223"/>
            <a:ext cx="46482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Данные формы сохраняются в 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$_SESSION['resume_wizard']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при переходе между шагами.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8975" y="4178498"/>
            <a:ext cx="515302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Экспорт в 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3225" y="4454723"/>
            <a:ext cx="46482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Возможность мгновенно выгрузить собранную структуру резюме в стандартизированном JSON-файле.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35348"/>
            <a:ext cx="6297959" cy="4057650"/>
          </a:xfrm>
          <a:prstGeom prst="roundRect">
            <a:avLst>
              <a:gd name="adj" fmla="val 23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6159" y="2895004"/>
            <a:ext cx="4446240" cy="1938337"/>
          </a:xfrm>
          <a:prstGeom prst="roundRect">
            <a:avLst>
              <a:gd name="adj" fmla="val 5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384" y="3147417"/>
            <a:ext cx="152400" cy="171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РЕАЛИЗАЦИЯ PHP 8.4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Серверная валидация личных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025848"/>
            <a:ext cx="5936009" cy="3676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43F5E"/>
                </a:solidFill>
                <a:latin typeface="JetBrains Mono"/>
              </a:rPr>
              <a:t>declare</a:t>
            </a:r>
            <a:r>
              <a:rPr b="0" sz="1050" i="0" u="none">
                <a:solidFill>
                  <a:srgbClr val="64748B"/>
                </a:solidFill>
                <a:latin typeface="JetBrains Mono"/>
              </a:rPr>
              <a:t>(strict_types=1); 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function</a:t>
            </a:r>
            <a:r>
              <a:rPr b="0" sz="1050" i="0" u="none">
                <a:solidFill>
                  <a:srgbClr val="64748B"/>
                </a:solidFill>
                <a:latin typeface="JetBrains Mono"/>
              </a:rPr>
              <a:t> </a:t>
            </a:r>
            <a:r>
              <a:rPr b="0" sz="1050" i="0" u="none">
                <a:solidFill>
                  <a:srgbClr val="4ADE80"/>
                </a:solidFill>
                <a:latin typeface="JetBrains Mono"/>
              </a:rPr>
              <a:t>validateProfileStep</a:t>
            </a:r>
            <a:r>
              <a:rPr b="0" sz="1050" i="0" u="none">
                <a:solidFill>
                  <a:srgbClr val="64748B"/>
                </a:solidFill>
                <a:latin typeface="JetBrains Mono"/>
              </a:rPr>
              <a:t>(</a:t>
            </a:r>
            <a:r>
              <a:rPr b="0" sz="1050" i="0" u="none">
                <a:solidFill>
                  <a:srgbClr val="F39C12"/>
                </a:solidFill>
                <a:latin typeface="JetBrains Mono"/>
              </a:rPr>
              <a:t>array</a:t>
            </a:r>
            <a:r>
              <a:rPr b="0" sz="1050" i="0" u="none">
                <a:solidFill>
                  <a:srgbClr val="64748B"/>
                </a:solidFill>
                <a:latin typeface="JetBrains Mono"/>
              </a:rPr>
              <a:t> $input): </a:t>
            </a:r>
            <a:r>
              <a:rPr b="0" sz="1050" i="0" u="none">
                <a:solidFill>
                  <a:srgbClr val="F39C12"/>
                </a:solidFill>
                <a:latin typeface="JetBrains Mono"/>
              </a:rPr>
              <a:t>array</a:t>
            </a:r>
            <a:r>
              <a:rPr b="0" sz="1050" i="0" u="none">
                <a:solidFill>
                  <a:srgbClr val="64748B"/>
                </a:solidFill>
                <a:latin typeface="JetBrains Mono"/>
              </a:rPr>
              <a:t> { $errors = []; $fullName = trim($input[</a:t>
            </a:r>
            <a:r>
              <a:rPr b="0" sz="1050" i="0" u="none">
                <a:solidFill>
                  <a:srgbClr val="A5F3FC"/>
                </a:solidFill>
                <a:latin typeface="JetBrains Mono"/>
              </a:rPr>
              <a:t>'full_name'</a:t>
            </a:r>
            <a:r>
              <a:rPr b="0" sz="1050" i="0" u="none">
                <a:solidFill>
                  <a:srgbClr val="64748B"/>
                </a:solidFill>
                <a:latin typeface="JetBrains Mono"/>
              </a:rPr>
              <a:t>] ?? </a:t>
            </a:r>
            <a:r>
              <a:rPr b="0" sz="1050" i="0" u="none">
                <a:solidFill>
                  <a:srgbClr val="A5F3FC"/>
                </a:solidFill>
                <a:latin typeface="JetBrains Mono"/>
              </a:rPr>
              <a:t>''</a:t>
            </a:r>
            <a:r>
              <a:rPr b="0" sz="1050" i="0" u="none">
                <a:solidFill>
                  <a:srgbClr val="64748B"/>
                </a:solidFill>
                <a:latin typeface="JetBrains Mono"/>
              </a:rPr>
              <a:t>); $email = trim($input[</a:t>
            </a:r>
            <a:r>
              <a:rPr b="0" sz="1050" i="0" u="none">
                <a:solidFill>
                  <a:srgbClr val="A5F3FC"/>
                </a:solidFill>
                <a:latin typeface="JetBrains Mono"/>
              </a:rPr>
              <a:t>'email'</a:t>
            </a:r>
            <a:r>
              <a:rPr b="0" sz="1050" i="0" u="none">
                <a:solidFill>
                  <a:srgbClr val="64748B"/>
                </a:solidFill>
                <a:latin typeface="JetBrains Mono"/>
              </a:rPr>
              <a:t>] ?? </a:t>
            </a:r>
            <a:r>
              <a:rPr b="0" sz="1050" i="0" u="none">
                <a:solidFill>
                  <a:srgbClr val="A5F3FC"/>
                </a:solidFill>
                <a:latin typeface="JetBrains Mono"/>
              </a:rPr>
              <a:t>''</a:t>
            </a:r>
            <a:r>
              <a:rPr b="0" sz="1050" i="0" u="none">
                <a:solidFill>
                  <a:srgbClr val="64748B"/>
                </a:solidFill>
                <a:latin typeface="JetBrains Mono"/>
              </a:rPr>
              <a:t>); 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if</a:t>
            </a:r>
            <a:r>
              <a:rPr b="0" sz="1050" i="0" u="none">
                <a:solidFill>
                  <a:srgbClr val="64748B"/>
                </a:solidFill>
                <a:latin typeface="JetBrains Mono"/>
              </a:rPr>
              <a:t> (mb_strlen($fullName) &lt; 3) { $errors[</a:t>
            </a:r>
            <a:r>
              <a:rPr b="0" sz="1050" i="0" u="none">
                <a:solidFill>
                  <a:srgbClr val="A5F3FC"/>
                </a:solidFill>
                <a:latin typeface="JetBrains Mono"/>
              </a:rPr>
              <a:t>'full_name'</a:t>
            </a:r>
            <a:r>
              <a:rPr b="0" sz="1050" i="0" u="none">
                <a:solidFill>
                  <a:srgbClr val="64748B"/>
                </a:solidFill>
                <a:latin typeface="JetBrains Mono"/>
              </a:rPr>
              <a:t>] = </a:t>
            </a:r>
            <a:r>
              <a:rPr b="0" sz="1050" i="0" u="none">
                <a:solidFill>
                  <a:srgbClr val="A5F3FC"/>
                </a:solidFill>
                <a:latin typeface="JetBrains Mono"/>
              </a:rPr>
              <a:t>'ФИО должно быть от 3 символов.'</a:t>
            </a:r>
            <a:r>
              <a:rPr b="0" sz="1050" i="0" u="none">
                <a:solidFill>
                  <a:srgbClr val="64748B"/>
                </a:solidFill>
                <a:latin typeface="JetBrains Mono"/>
              </a:rPr>
              <a:t>; } 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if</a:t>
            </a:r>
            <a:r>
              <a:rPr b="0" sz="1050" i="0" u="none">
                <a:solidFill>
                  <a:srgbClr val="64748B"/>
                </a:solidFill>
                <a:latin typeface="JetBrains Mono"/>
              </a:rPr>
              <a:t> (!filter_var($email, FILTER_VALIDATE_EMAIL)) { $errors[</a:t>
            </a:r>
            <a:r>
              <a:rPr b="0" sz="1050" i="0" u="none">
                <a:solidFill>
                  <a:srgbClr val="A5F3FC"/>
                </a:solidFill>
                <a:latin typeface="JetBrains Mono"/>
              </a:rPr>
              <a:t>'email'</a:t>
            </a:r>
            <a:r>
              <a:rPr b="0" sz="1050" i="0" u="none">
                <a:solidFill>
                  <a:srgbClr val="64748B"/>
                </a:solidFill>
                <a:latin typeface="JetBrains Mono"/>
              </a:rPr>
              <a:t>] = </a:t>
            </a:r>
            <a:r>
              <a:rPr b="0" sz="1050" i="0" u="none">
                <a:solidFill>
                  <a:srgbClr val="A5F3FC"/>
                </a:solidFill>
                <a:latin typeface="JetBrains Mono"/>
              </a:rPr>
              <a:t>'Некорректный адрес E-mail.'</a:t>
            </a:r>
            <a:r>
              <a:rPr b="0" sz="1050" i="0" u="none">
                <a:solidFill>
                  <a:srgbClr val="64748B"/>
                </a:solidFill>
                <a:latin typeface="JetBrains Mono"/>
              </a:rPr>
              <a:t>; } 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return</a:t>
            </a:r>
            <a:r>
              <a:rPr b="0" sz="1050" i="0" u="none">
                <a:solidFill>
                  <a:srgbClr val="64748B"/>
                </a:solidFill>
                <a:latin typeface="JetBrains Mono"/>
              </a:rPr>
              <a:t> $errors;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025848"/>
            <a:ext cx="73009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JetBrains Mono"/>
              </a:rPr>
              <a:t>// Валидация Шага 1 в src/validator.php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302073"/>
            <a:ext cx="5936009" cy="3400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43F5E"/>
                </a:solidFill>
                <a:latin typeface="monospace"/>
              </a:rPr>
              <a:t>declare</a:t>
            </a:r>
            <a:r>
              <a:rPr b="0" sz="1050" i="0" u="none">
                <a:solidFill>
                  <a:srgbClr val="F8FAFC"/>
                </a:solidFill>
                <a:latin typeface="monospace"/>
              </a:rPr>
              <a:t>(strict_types=1); </a:t>
            </a:r>
            <a:r>
              <a:rPr b="0" sz="1050" i="0" u="none">
                <a:solidFill>
                  <a:srgbClr val="38BDF8"/>
                </a:solidFill>
                <a:latin typeface="monospace"/>
              </a:rPr>
              <a:t>function</a:t>
            </a:r>
            <a:r>
              <a:rPr b="0" sz="1050" i="0" u="none">
                <a:solidFill>
                  <a:srgbClr val="F8FAFC"/>
                </a:solidFill>
                <a:latin typeface="monospace"/>
              </a:rPr>
              <a:t> </a:t>
            </a:r>
            <a:r>
              <a:rPr b="0" sz="1050" i="0" u="none">
                <a:solidFill>
                  <a:srgbClr val="4ADE80"/>
                </a:solidFill>
                <a:latin typeface="monospace"/>
              </a:rPr>
              <a:t>validateProfileStep</a:t>
            </a:r>
            <a:r>
              <a:rPr b="0" sz="1050" i="0" u="none">
                <a:solidFill>
                  <a:srgbClr val="F8FAFC"/>
                </a:solidFill>
                <a:latin typeface="monospace"/>
              </a:rPr>
              <a:t>(</a:t>
            </a:r>
            <a:r>
              <a:rPr b="0" sz="1050" i="0" u="none">
                <a:solidFill>
                  <a:srgbClr val="F39C12"/>
                </a:solidFill>
                <a:latin typeface="monospace"/>
              </a:rPr>
              <a:t>array</a:t>
            </a:r>
            <a:r>
              <a:rPr b="0" sz="1050" i="0" u="none">
                <a:solidFill>
                  <a:srgbClr val="F8FAFC"/>
                </a:solidFill>
                <a:latin typeface="monospace"/>
              </a:rPr>
              <a:t> $input): </a:t>
            </a:r>
            <a:r>
              <a:rPr b="0" sz="1050" i="0" u="none">
                <a:solidFill>
                  <a:srgbClr val="F39C12"/>
                </a:solidFill>
                <a:latin typeface="monospace"/>
              </a:rPr>
              <a:t>array</a:t>
            </a:r>
            <a:r>
              <a:rPr b="0" sz="1050" i="0" u="none">
                <a:solidFill>
                  <a:srgbClr val="F8FAFC"/>
                </a:solidFill>
                <a:latin typeface="monospace"/>
              </a:rPr>
              <a:t> { $errors = []; $fullName = trim($input[</a:t>
            </a:r>
            <a:r>
              <a:rPr b="0" sz="1050" i="0" u="none">
                <a:solidFill>
                  <a:srgbClr val="A5F3FC"/>
                </a:solidFill>
                <a:latin typeface="monospace"/>
              </a:rPr>
              <a:t>'full_name'</a:t>
            </a:r>
            <a:r>
              <a:rPr b="0" sz="1050" i="0" u="none">
                <a:solidFill>
                  <a:srgbClr val="F8FAFC"/>
                </a:solidFill>
                <a:latin typeface="monospace"/>
              </a:rPr>
              <a:t>] ?? </a:t>
            </a:r>
            <a:r>
              <a:rPr b="0" sz="1050" i="0" u="none">
                <a:solidFill>
                  <a:srgbClr val="A5F3FC"/>
                </a:solidFill>
                <a:latin typeface="monospace"/>
              </a:rPr>
              <a:t>''</a:t>
            </a:r>
            <a:r>
              <a:rPr b="0" sz="1050" i="0" u="none">
                <a:solidFill>
                  <a:srgbClr val="F8FAFC"/>
                </a:solidFill>
                <a:latin typeface="monospace"/>
              </a:rPr>
              <a:t>); $email = trim($input[</a:t>
            </a:r>
            <a:r>
              <a:rPr b="0" sz="1050" i="0" u="none">
                <a:solidFill>
                  <a:srgbClr val="A5F3FC"/>
                </a:solidFill>
                <a:latin typeface="monospace"/>
              </a:rPr>
              <a:t>'email'</a:t>
            </a:r>
            <a:r>
              <a:rPr b="0" sz="1050" i="0" u="none">
                <a:solidFill>
                  <a:srgbClr val="F8FAFC"/>
                </a:solidFill>
                <a:latin typeface="monospace"/>
              </a:rPr>
              <a:t>] ?? </a:t>
            </a:r>
            <a:r>
              <a:rPr b="0" sz="1050" i="0" u="none">
                <a:solidFill>
                  <a:srgbClr val="A5F3FC"/>
                </a:solidFill>
                <a:latin typeface="monospace"/>
              </a:rPr>
              <a:t>''</a:t>
            </a:r>
            <a:r>
              <a:rPr b="0" sz="1050" i="0" u="none">
                <a:solidFill>
                  <a:srgbClr val="F8FAFC"/>
                </a:solidFill>
                <a:latin typeface="monospace"/>
              </a:rPr>
              <a:t>); </a:t>
            </a:r>
            <a:r>
              <a:rPr b="0" sz="1050" i="0" u="none">
                <a:solidFill>
                  <a:srgbClr val="F43F5E"/>
                </a:solidFill>
                <a:latin typeface="monospace"/>
              </a:rPr>
              <a:t>if</a:t>
            </a:r>
            <a:r>
              <a:rPr b="0" sz="1050" i="0" u="none">
                <a:solidFill>
                  <a:srgbClr val="F8FAFC"/>
                </a:solidFill>
                <a:latin typeface="monospace"/>
              </a:rPr>
              <a:t> (mb_strlen($fullName) &lt; 3) { $errors[</a:t>
            </a:r>
            <a:r>
              <a:rPr b="0" sz="1050" i="0" u="none">
                <a:solidFill>
                  <a:srgbClr val="A5F3FC"/>
                </a:solidFill>
                <a:latin typeface="monospace"/>
              </a:rPr>
              <a:t>'full_name'</a:t>
            </a:r>
            <a:r>
              <a:rPr b="0" sz="1050" i="0" u="none">
                <a:solidFill>
                  <a:srgbClr val="F8FAFC"/>
                </a:solidFill>
                <a:latin typeface="monospace"/>
              </a:rPr>
              <a:t>] = </a:t>
            </a:r>
            <a:r>
              <a:rPr b="0" sz="1050" i="0" u="none">
                <a:solidFill>
                  <a:srgbClr val="A5F3FC"/>
                </a:solidFill>
                <a:latin typeface="monospace"/>
              </a:rPr>
              <a:t>'ФИО должно быть от 3 символов.'</a:t>
            </a:r>
            <a:r>
              <a:rPr b="0" sz="1050" i="0" u="none">
                <a:solidFill>
                  <a:srgbClr val="F8FAFC"/>
                </a:solidFill>
                <a:latin typeface="monospace"/>
              </a:rPr>
              <a:t>; } </a:t>
            </a:r>
            <a:r>
              <a:rPr b="0" sz="1050" i="0" u="none">
                <a:solidFill>
                  <a:srgbClr val="F43F5E"/>
                </a:solidFill>
                <a:latin typeface="monospace"/>
              </a:rPr>
              <a:t>if</a:t>
            </a:r>
            <a:r>
              <a:rPr b="0" sz="1050" i="0" u="none">
                <a:solidFill>
                  <a:srgbClr val="F8FAFC"/>
                </a:solidFill>
                <a:latin typeface="monospace"/>
              </a:rPr>
              <a:t> (!filter_var($email, FILTER_VALIDATE_EMAIL)) { $errors[</a:t>
            </a:r>
            <a:r>
              <a:rPr b="0" sz="1050" i="0" u="none">
                <a:solidFill>
                  <a:srgbClr val="A5F3FC"/>
                </a:solidFill>
                <a:latin typeface="monospace"/>
              </a:rPr>
              <a:t>'email'</a:t>
            </a:r>
            <a:r>
              <a:rPr b="0" sz="1050" i="0" u="none">
                <a:solidFill>
                  <a:srgbClr val="F8FAFC"/>
                </a:solidFill>
                <a:latin typeface="monospace"/>
              </a:rPr>
              <a:t>] = </a:t>
            </a:r>
            <a:r>
              <a:rPr b="0" sz="1050" i="0" u="none">
                <a:solidFill>
                  <a:srgbClr val="A5F3FC"/>
                </a:solidFill>
                <a:latin typeface="monospace"/>
              </a:rPr>
              <a:t>'Некорректный адрес E-mail.'</a:t>
            </a:r>
            <a:r>
              <a:rPr b="0" sz="1050" i="0" u="none">
                <a:solidFill>
                  <a:srgbClr val="F8FAFC"/>
                </a:solidFill>
                <a:latin typeface="monospace"/>
              </a:rPr>
              <a:t>; } </a:t>
            </a:r>
            <a:r>
              <a:rPr b="0" sz="1050" i="0" u="none">
                <a:solidFill>
                  <a:srgbClr val="F43F5E"/>
                </a:solidFill>
                <a:latin typeface="monospace"/>
              </a:rPr>
              <a:t>return</a:t>
            </a:r>
            <a:r>
              <a:rPr b="0" sz="1050" i="0" u="none">
                <a:solidFill>
                  <a:srgbClr val="F8FAFC"/>
                </a:solidFill>
                <a:latin typeface="monospace"/>
              </a:rPr>
              <a:t> $errors;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0034" y="3133129"/>
            <a:ext cx="453196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Преимущества проверки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12384" y="3409354"/>
            <a:ext cx="398904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Использование встроенного фильтра 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filter_var(..., FILTER_VALIDATE_EMAIL)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гарантирует синтаксическую корректность почты.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12384" y="4166592"/>
            <a:ext cx="398904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Пользователь не сможет перейти к следующему шагу, пока не исправит выявленные ошибки.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59310"/>
            <a:ext cx="3505200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59310"/>
            <a:ext cx="3505200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66467"/>
            <a:ext cx="3505200" cy="1395412"/>
          </a:xfrm>
          <a:prstGeom prst="roundRect">
            <a:avLst>
              <a:gd name="adj" fmla="val 81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11723"/>
            <a:ext cx="17145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311723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418879"/>
            <a:ext cx="219075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БЕЗОПАСНОСТЬ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Защита многошаговой формы и предпросмотра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3297435"/>
            <a:ext cx="342423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Безопасный вывод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573660"/>
            <a:ext cx="3048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Экранирование всех пользовательских символов на странице предпросмотра через 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htmlspecialchars()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от XSS-инъекций.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6325" y="3297435"/>
            <a:ext cx="342423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CSRF-Защита шагов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573660"/>
            <a:ext cx="3048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Каждый шаг формы передает уникальный криптоустойчивый токен для предотвращения подделки межсайтовых запросов.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0" y="3404592"/>
            <a:ext cx="3376612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Изоляция данных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680817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Очистка данных сессии после завершения формирования и успешного экспорта готового резюме.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125985"/>
            <a:ext cx="2361158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70758" y="3125985"/>
            <a:ext cx="3418879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89637" y="3125985"/>
            <a:ext cx="408131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70951" y="3125985"/>
            <a:ext cx="1111448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597473"/>
            <a:ext cx="2361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70758" y="3597473"/>
            <a:ext cx="34188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89637" y="3597473"/>
            <a:ext cx="40813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70951" y="3597473"/>
            <a:ext cx="11114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4054673"/>
            <a:ext cx="2361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70758" y="4054673"/>
            <a:ext cx="34188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89637" y="4054673"/>
            <a:ext cx="40813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70951" y="4054673"/>
            <a:ext cx="11114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4511873"/>
            <a:ext cx="2361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70758" y="4511873"/>
            <a:ext cx="34188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89637" y="4511873"/>
            <a:ext cx="40813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470951" y="4511873"/>
            <a:ext cx="11114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4969073"/>
            <a:ext cx="2361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70758" y="4969073"/>
            <a:ext cx="34188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89637" y="4969073"/>
            <a:ext cx="40813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470951" y="4969073"/>
            <a:ext cx="11114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623351" y="3268860"/>
            <a:ext cx="685800" cy="219075"/>
          </a:xfrm>
          <a:prstGeom prst="roundRect">
            <a:avLst>
              <a:gd name="adj" fmla="val 2608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623351" y="3726060"/>
            <a:ext cx="685800" cy="219075"/>
          </a:xfrm>
          <a:prstGeom prst="roundRect">
            <a:avLst>
              <a:gd name="adj" fmla="val 2608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623351" y="4183260"/>
            <a:ext cx="685800" cy="219075"/>
          </a:xfrm>
          <a:prstGeom prst="roundRect">
            <a:avLst>
              <a:gd name="adj" fmla="val 2608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23351" y="4640460"/>
            <a:ext cx="685800" cy="219075"/>
          </a:xfrm>
          <a:prstGeom prst="roundRect">
            <a:avLst>
              <a:gd name="adj" fmla="val 2608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09600" y="2744985"/>
          <a:ext cx="10972798" cy="22383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361158"/>
                <a:gridCol w="3418879"/>
                <a:gridCol w="4081313"/>
                <a:gridCol w="1111448"/>
              </a:tblGrid>
              <a:tr h="4476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Тест-кейс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Входное действие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Ожидаемый результат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Статус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Положительный сценарий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Заполнение 3 шагов валидными данными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Формирование резюме и возможность экспорта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Неверный E-mail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Ввод `user@invalid` на Шаге 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Отказ перехода, показ сообщения об ошибке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Попытка XSS-инъекции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Ввод `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alert(1)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` в проект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Безопасный вывод текста в HTML-предпросмотре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CSRF-защита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Отправка Шага 2 без CSRF-токена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Блокировка запроса (403 Forbidden)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КАЧЕСТВО КОДА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Результаты тестирования генератора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18601" y="3306960"/>
            <a:ext cx="5905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5803D"/>
                </a:solidFill>
                <a:latin typeface="Inter"/>
              </a:rPr>
              <a:t>Успешно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8601" y="3764160"/>
            <a:ext cx="5905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5803D"/>
                </a:solidFill>
                <a:latin typeface="Inter"/>
              </a:rPr>
              <a:t>Успешно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18601" y="4221360"/>
            <a:ext cx="5905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5803D"/>
                </a:solidFill>
                <a:latin typeface="Inter"/>
              </a:rPr>
              <a:t>Успешно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18601" y="4678560"/>
            <a:ext cx="5905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5803D"/>
                </a:solidFill>
                <a:latin typeface="Inter"/>
              </a:rPr>
              <a:t>Успешно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368998"/>
            <a:ext cx="10972800" cy="514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06898"/>
            <a:ext cx="5334000" cy="1181100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806898"/>
            <a:ext cx="5334000" cy="1181100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368998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974502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ИТОГИ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12627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FFFFFF"/>
                </a:solidFill>
                <a:latin typeface="Inter"/>
              </a:rPr>
              <a:t>Заключение и направления развития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381000" y="4607123"/>
            <a:ext cx="129540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Спасибо за внимание! Вопросы?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045023"/>
            <a:ext cx="63757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Inter"/>
              </a:rPr>
              <a:t>Выполненные требования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321248"/>
            <a:ext cx="4953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Полностью реализованы задачи Варианта №13: многошаговый Wizard, валидация полей, хранение в сессии и экспорт в JSON.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3045023"/>
            <a:ext cx="5705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ADE80"/>
                </a:solidFill>
                <a:latin typeface="Inter"/>
              </a:rPr>
              <a:t>Перспективы развития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3321248"/>
            <a:ext cx="4953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Интеграция генерации PDF-файлов (библиотека Dompdf), поддержка визуальных тем оформления и сохранение в MySQL.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80394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1100" y="1028700"/>
            <a:ext cx="2912864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6475" y="1846808"/>
            <a:ext cx="5429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Inter"/>
              </a:rPr>
              <a:t>https://resumegenius.com/wp-content/uploads/hero-image.png?w=1300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6475" y="2046833"/>
            <a:ext cx="2440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resumegenius.com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
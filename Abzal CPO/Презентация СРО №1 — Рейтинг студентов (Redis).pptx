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Inter"/>
      <p:bold r:id="rId11"/>
    </p:embeddedFont>
    <p:embeddedFont>
      <p:font typeface="JetBrains Mono"/>
      <p:regular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Бакберген Сахи" userId="caf4af0ee5bb8cb3" providerId="LiveId" clId="{A2996940-A8B6-4640-8BAD-D7E0F7F7683A}"/>
    <pc:docChg chg="modSld">
      <pc:chgData name="Бакберген Сахи" userId="caf4af0ee5bb8cb3" providerId="LiveId" clId="{A2996940-A8B6-4640-8BAD-D7E0F7F7683A}" dt="2026-10-20T08:03:16.379" v="40" actId="20577"/>
      <pc:docMkLst>
        <pc:docMk/>
      </pc:docMkLst>
      <pc:sldChg chg="addSp modSp mod">
        <pc:chgData name="Бакберген Сахи" userId="caf4af0ee5bb8cb3" providerId="LiveId" clId="{A2996940-A8B6-4640-8BAD-D7E0F7F7683A}" dt="2026-10-20T08:03:16.379" v="40" actId="20577"/>
        <pc:sldMkLst>
          <pc:docMk/>
          <pc:sldMk cId="0" sldId="256"/>
        </pc:sldMkLst>
        <pc:spChg chg="mod">
          <ac:chgData name="Бакберген Сахи" userId="caf4af0ee5bb8cb3" providerId="LiveId" clId="{A2996940-A8B6-4640-8BAD-D7E0F7F7683A}" dt="2026-10-20T08:03:16.379" v="40" actId="20577"/>
          <ac:spMkLst>
            <pc:docMk/>
            <pc:sldMk cId="0" sldId="256"/>
            <ac:spMk id="12" creationId="{00000000-0000-0000-0000-000000000000}"/>
          </ac:spMkLst>
        </pc:spChg>
        <pc:spChg chg="add mod">
          <ac:chgData name="Бакберген Сахи" userId="caf4af0ee5bb8cb3" providerId="LiveId" clId="{A2996940-A8B6-4640-8BAD-D7E0F7F7683A}" dt="2026-10-20T08:03:02.875" v="20" actId="20577"/>
          <ac:spMkLst>
            <pc:docMk/>
            <pc:sldMk cId="0" sldId="256"/>
            <ac:spMk id="14" creationId="{54069063-CE34-CBCC-CBEF-9B170A40BE8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370040"/>
            <a:ext cx="106680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437004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686050" y="4651027"/>
            <a:ext cx="9525" cy="3048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878359"/>
            <a:ext cx="200025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1859309"/>
            <a:ext cx="11430000" cy="190500"/>
          </a:xfrm>
          <a:prstGeom prst="rect">
            <a:avLst/>
          </a:prstGeom>
          <a:noFill/>
        </p:spPr>
        <p:txBody>
          <a:bodyPr wrap="none" lIns="276225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СРО №1 | ДИСЦИПЛИНА «ПРОЕКТИРОВАНИЕ NOSQL-ТЕХНОЛОГИЙ»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202209"/>
            <a:ext cx="9101137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Inter"/>
              </a:rPr>
              <a:t>Высоконагруженная подсистема «Рейтинг студентов»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531840"/>
            <a:ext cx="723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Inter"/>
              </a:rPr>
              <a:t>Реализация подсистемы лидерборда в реальном времени с использованием Redis Sorted Sets, Hashes и Python.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608165"/>
            <a:ext cx="20240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Стек технологий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808190"/>
            <a:ext cx="20240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Inter"/>
              </a:rPr>
              <a:t>Redis, Python, Docker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0375" y="4608165"/>
            <a:ext cx="10858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Студент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0375" y="4808190"/>
            <a:ext cx="1172565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8FAFC"/>
                </a:solidFill>
                <a:latin typeface="Inter"/>
              </a:rPr>
              <a:t>3 </a:t>
            </a:r>
            <a:r>
              <a:rPr sz="1200" b="1" i="0" u="none" dirty="0" err="1">
                <a:solidFill>
                  <a:srgbClr val="F8FAFC"/>
                </a:solidFill>
                <a:latin typeface="Inter"/>
              </a:rPr>
              <a:t>курс</a:t>
            </a:r>
            <a:r>
              <a:rPr sz="1200" b="1" i="0" u="none" dirty="0">
                <a:solidFill>
                  <a:srgbClr val="F8FAFC"/>
                </a:solidFill>
                <a:latin typeface="Inter"/>
              </a:rPr>
              <a:t>, ИС</a:t>
            </a:r>
            <a:endParaRPr lang="ru-RU" sz="1200" b="1" i="0" u="none" dirty="0">
              <a:solidFill>
                <a:srgbClr val="F8FAFC"/>
              </a:solidFill>
              <a:latin typeface="Inter"/>
            </a:endParaRPr>
          </a:p>
          <a:p>
            <a:pPr algn="l"/>
            <a:r>
              <a:rPr lang="ru-RU" sz="1200" b="1" i="0" u="none" dirty="0" err="1">
                <a:solidFill>
                  <a:srgbClr val="F8FAFC"/>
                </a:solidFill>
                <a:latin typeface="Inter"/>
              </a:rPr>
              <a:t>Абдусаттар</a:t>
            </a:r>
            <a:r>
              <a:rPr lang="ru-RU" sz="1200" b="1" i="0" u="none" dirty="0">
                <a:solidFill>
                  <a:srgbClr val="F8FAFC"/>
                </a:solidFill>
                <a:latin typeface="Inter"/>
              </a:rPr>
              <a:t> Абзал</a:t>
            </a:r>
          </a:p>
          <a:p>
            <a:pPr algn="l"/>
            <a:endParaRPr sz="1200" b="1" i="0" u="none" dirty="0">
              <a:solidFill>
                <a:srgbClr val="F8FAFC"/>
              </a:solidFill>
              <a:latin typeface="Inte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069063-CE34-CBCC-CBEF-9B170A40BE87}"/>
              </a:ext>
            </a:extLst>
          </p:cNvPr>
          <p:cNvSpPr txBox="1"/>
          <p:nvPr/>
        </p:nvSpPr>
        <p:spPr>
          <a:xfrm>
            <a:off x="4587074" y="4639153"/>
            <a:ext cx="63799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ru-RU" sz="1050" dirty="0">
                <a:solidFill>
                  <a:srgbClr val="64748B"/>
                </a:solidFill>
                <a:latin typeface="Inter"/>
              </a:rPr>
              <a:t>Вариант 10</a:t>
            </a:r>
            <a:endParaRPr sz="1050" b="0" i="0" u="none" dirty="0">
              <a:solidFill>
                <a:srgbClr val="64748B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00325"/>
            <a:ext cx="5334000" cy="2333625"/>
          </a:xfrm>
          <a:prstGeom prst="roundRect">
            <a:avLst>
              <a:gd name="adj" fmla="val 65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605087"/>
            <a:ext cx="5334000" cy="2324100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81300" y="3933825"/>
            <a:ext cx="1852017" cy="219075"/>
          </a:xfrm>
          <a:prstGeom prst="roundRect">
            <a:avLst>
              <a:gd name="adj" fmla="val 1739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91465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91941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275" y="3048000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0" y="3052762"/>
            <a:ext cx="17145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Проблема и цель проекта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562350"/>
            <a:ext cx="617577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Проблема 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924300"/>
            <a:ext cx="4800600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Подсчет рейтинга через в RDBMS создает задержки O(N log N) и блокировки при частых обновлениях.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567112"/>
            <a:ext cx="56292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Решение Redis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929062"/>
            <a:ext cx="4800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Использование In-Memory структур **Sorted Set** снижает время отклика до O(log N), гарантируя атомарность и мгновенный доступ.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8450" y="3952875"/>
            <a:ext cx="220072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monospace"/>
              </a:rPr>
              <a:t>ORDER BY score DESC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10275" y="2919412"/>
            <a:ext cx="5572125" cy="1619250"/>
          </a:xfrm>
          <a:prstGeom prst="roundRect">
            <a:avLst>
              <a:gd name="adj" fmla="val 70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86137"/>
            <a:ext cx="133350" cy="152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690937"/>
            <a:ext cx="13335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995737"/>
            <a:ext cx="13335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300537"/>
            <a:ext cx="13335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Требования и Access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928937"/>
            <a:ext cx="668833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Inter"/>
              </a:rPr>
              <a:t>Функциональность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3157537"/>
            <a:ext cx="5943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Inter"/>
              </a:rPr>
              <a:t>Ключевые Access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309937"/>
            <a:ext cx="6369843" cy="30480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FR-1:</a:t>
            </a:r>
            <a:r>
              <a:rPr sz="1200" b="0" i="0" u="none">
                <a:solidFill>
                  <a:srgbClr val="0F172A"/>
                </a:solidFill>
                <a:latin typeface="Inter"/>
              </a:rPr>
              <a:t> Регистрация профиля студента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614737"/>
            <a:ext cx="6369843" cy="30480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FR-2:</a:t>
            </a:r>
            <a:r>
              <a:rPr sz="1200" b="0" i="0" u="none">
                <a:solidFill>
                  <a:srgbClr val="0F172A"/>
                </a:solidFill>
                <a:latin typeface="Inter"/>
              </a:rPr>
              <a:t> Начисление и списание баллов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919537"/>
            <a:ext cx="6369843" cy="30480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FR-3:</a:t>
            </a:r>
            <a:r>
              <a:rPr sz="1200" b="0" i="0" u="none">
                <a:solidFill>
                  <a:srgbClr val="0F172A"/>
                </a:solidFill>
                <a:latin typeface="Inter"/>
              </a:rPr>
              <a:t> Выборка ТОП-10 участников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224337"/>
            <a:ext cx="6369843" cy="30480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FR-4:</a:t>
            </a:r>
            <a:r>
              <a:rPr sz="1200" b="0" i="0" u="none">
                <a:solidFill>
                  <a:srgbClr val="0F172A"/>
                </a:solidFill>
                <a:latin typeface="Inter"/>
              </a:rPr>
              <a:t> Расчет ранга студента в реальном времени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400" y="3538537"/>
            <a:ext cx="59436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AP-1: Обновление баллов (High Priority)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400" y="3700462"/>
            <a:ext cx="59436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O(log N) — Атомарный инкремент через ZINCRBY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8400" y="3976687"/>
            <a:ext cx="59436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AP-2: Запрос ТОП-10 лидерборда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4138612"/>
            <a:ext cx="59436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O(log N + M) — Мгновенная выборка с ZREVRANGE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62287"/>
            <a:ext cx="3505200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62287"/>
            <a:ext cx="3505200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62287"/>
            <a:ext cx="3505200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Модель данных Redis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300412"/>
            <a:ext cx="3786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ZSET (Sorted Set)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519487"/>
            <a:ext cx="39754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students:leaderboard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833812"/>
            <a:ext cx="31242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Хранит пары member (ID) и score (Баллы). Автоматическая сортировка элементов.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525" y="3300412"/>
            <a:ext cx="3786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HASH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3519487"/>
            <a:ext cx="39754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student:profile:{id}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3833812"/>
            <a:ext cx="31242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Метаданные: ФИО, группа, факультет, дата последнего изменения данных.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5325" y="3300412"/>
            <a:ext cx="3786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5325" y="3519487"/>
            <a:ext cx="38766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students:active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3833812"/>
            <a:ext cx="31242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Список активных ID студентов для валидации и быстрых проверок существования.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576512" y="2928937"/>
            <a:ext cx="1819275" cy="9144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872037" y="2919412"/>
            <a:ext cx="1781175" cy="933450"/>
          </a:xfrm>
          <a:prstGeom prst="roundRect">
            <a:avLst>
              <a:gd name="adj" fmla="val 12244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29462" y="2919412"/>
            <a:ext cx="2486025" cy="933450"/>
          </a:xfrm>
          <a:prstGeom prst="roundRect">
            <a:avLst>
              <a:gd name="adj" fmla="val 12244"/>
            </a:avLst>
          </a:prstGeom>
          <a:solidFill>
            <a:srgbClr val="FEE2E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187" y="3290887"/>
            <a:ext cx="17145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612" y="3290887"/>
            <a:ext cx="1714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462" y="3119437"/>
            <a:ext cx="33337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9275" y="3119437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412" y="3119437"/>
            <a:ext cx="238125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Архитектура и Поток данных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8812" y="4157662"/>
            <a:ext cx="833437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Все операции чтения и обновления выполняются за доли миллисекунды в RAM с фоновым сбросом снимков данных на диск (RDB/AOF).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0103" y="3462337"/>
            <a:ext cx="151209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Python API / CLI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2296" y="3462337"/>
            <a:ext cx="144065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369A1"/>
                </a:solidFill>
                <a:latin typeface="Inter"/>
              </a:rPr>
              <a:t>redis-py Driver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1615" y="3462337"/>
            <a:ext cx="232171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991B1B"/>
                </a:solidFill>
                <a:latin typeface="Inter"/>
              </a:rPr>
              <a:t>Redis In-Memory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809750" y="2690812"/>
            <a:ext cx="8572500" cy="2076450"/>
          </a:xfrm>
          <a:prstGeom prst="roundRect">
            <a:avLst>
              <a:gd name="adj" fmla="val 550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Inter"/>
              </a:rPr>
              <a:t>Реализация на Python (redis-py)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875" y="2928937"/>
            <a:ext cx="101203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64748B"/>
                </a:solidFill>
                <a:latin typeface="JetBrains Mono"/>
              </a:rPr>
              <a:t># Добавление студента и установка балла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157537"/>
            <a:ext cx="101203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F43F5E"/>
                </a:solidFill>
                <a:latin typeface="JetBrains Mono"/>
              </a:rPr>
              <a:t>r.hset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(</a:t>
            </a:r>
            <a:r>
              <a:rPr sz="1125" b="0" i="0" u="none">
                <a:solidFill>
                  <a:srgbClr val="38BDF8"/>
                </a:solidFill>
                <a:latin typeface="JetBrains Mono"/>
              </a:rPr>
              <a:t>"student:101"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, mapping={</a:t>
            </a:r>
            <a:r>
              <a:rPr sz="1125" b="0" i="0" u="none">
                <a:solidFill>
                  <a:srgbClr val="38BDF8"/>
                </a:solidFill>
                <a:latin typeface="JetBrains Mono"/>
              </a:rPr>
              <a:t>"name"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: </a:t>
            </a:r>
            <a:r>
              <a:rPr sz="1125" b="0" i="0" u="none">
                <a:solidFill>
                  <a:srgbClr val="38BDF8"/>
                </a:solidFill>
                <a:latin typeface="JetBrains Mono"/>
              </a:rPr>
              <a:t>"Абзал А."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, </a:t>
            </a:r>
            <a:r>
              <a:rPr sz="1125" b="0" i="0" u="none">
                <a:solidFill>
                  <a:srgbClr val="38BDF8"/>
                </a:solidFill>
                <a:latin typeface="JetBrains Mono"/>
              </a:rPr>
              <a:t>"group"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: </a:t>
            </a:r>
            <a:r>
              <a:rPr sz="1125" b="0" i="0" u="none">
                <a:solidFill>
                  <a:srgbClr val="38BDF8"/>
                </a:solidFill>
                <a:latin typeface="JetBrains Mono"/>
              </a:rPr>
              <a:t>"ИС-21"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875" y="3386137"/>
            <a:ext cx="101203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F43F5E"/>
                </a:solidFill>
                <a:latin typeface="JetBrains Mono"/>
              </a:rPr>
              <a:t>r.zadd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(</a:t>
            </a:r>
            <a:r>
              <a:rPr sz="1125" b="0" i="0" u="none">
                <a:solidFill>
                  <a:srgbClr val="38BDF8"/>
                </a:solidFill>
                <a:latin typeface="JetBrains Mono"/>
              </a:rPr>
              <a:t>"students:leaderboard"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, {</a:t>
            </a:r>
            <a:r>
              <a:rPr sz="1125" b="0" i="0" u="none">
                <a:solidFill>
                  <a:srgbClr val="38BDF8"/>
                </a:solidFill>
                <a:latin typeface="JetBrains Mono"/>
              </a:rPr>
              <a:t>"101"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: 95.5})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47875" y="3843337"/>
            <a:ext cx="101203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64748B"/>
                </a:solidFill>
                <a:latin typeface="JetBrains Mono"/>
              </a:rPr>
              <a:t># Инкремент баллов и получение ТОП-10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7875" y="4071937"/>
            <a:ext cx="101203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F43F5E"/>
                </a:solidFill>
                <a:latin typeface="JetBrains Mono"/>
              </a:rPr>
              <a:t>r.zincrby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(</a:t>
            </a:r>
            <a:r>
              <a:rPr sz="1125" b="0" i="0" u="none">
                <a:solidFill>
                  <a:srgbClr val="38BDF8"/>
                </a:solidFill>
                <a:latin typeface="JetBrains Mono"/>
              </a:rPr>
              <a:t>"students:leaderboard"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, 4.5, </a:t>
            </a:r>
            <a:r>
              <a:rPr sz="1125" b="0" i="0" u="none">
                <a:solidFill>
                  <a:srgbClr val="38BDF8"/>
                </a:solidFill>
                <a:latin typeface="JetBrains Mono"/>
              </a:rPr>
              <a:t>"101"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7875" y="4300537"/>
            <a:ext cx="101203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F8FAFC"/>
                </a:solidFill>
                <a:latin typeface="JetBrains Mono"/>
              </a:rPr>
              <a:t>top_10 = 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r.zrevrange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(</a:t>
            </a:r>
            <a:r>
              <a:rPr sz="1125" b="0" i="0" u="none">
                <a:solidFill>
                  <a:srgbClr val="38BDF8"/>
                </a:solidFill>
                <a:latin typeface="JetBrains Mono"/>
              </a:rPr>
              <a:t>"students:leaderboard"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, 0, 9, withscores=</a:t>
            </a:r>
            <a:r>
              <a:rPr sz="1125" b="0" i="0" u="none">
                <a:solidFill>
                  <a:srgbClr val="F59E0B"/>
                </a:solidFill>
                <a:latin typeface="JetBrains Mono"/>
              </a:rPr>
              <a:t>True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30128"/>
            <a:ext cx="5372100" cy="1597818"/>
          </a:xfrm>
          <a:prstGeom prst="roundRect">
            <a:avLst>
              <a:gd name="adj" fmla="val 715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930128"/>
            <a:ext cx="5372100" cy="1597818"/>
          </a:xfrm>
          <a:prstGeom prst="roundRect">
            <a:avLst>
              <a:gd name="adj" fmla="val 715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Демонстрация 8 ключевых запросов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3130153"/>
            <a:ext cx="62150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Запросы 1–4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0325" y="3130153"/>
            <a:ext cx="57816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Запросы 5–8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368278"/>
            <a:ext cx="6215062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1. ZADD: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Регистрация в рейтинге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608189"/>
            <a:ext cx="6215062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2. ZINCRBY: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Обновление баллов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848100"/>
            <a:ext cx="6215062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3. ZREVRANGE: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Запрос ТОП-10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088010"/>
            <a:ext cx="6215062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4. ZREVRANK: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Узнать место студента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0325" y="3368278"/>
            <a:ext cx="5781675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5. ZRANGEBYSCORE: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Фильтр по баллам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0325" y="3608189"/>
            <a:ext cx="5781675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6. HGETALL: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Запрос профиля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0325" y="3848100"/>
            <a:ext cx="5781675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7. SCARD: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Кол-во участников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4088010"/>
            <a:ext cx="5781675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8. ZREM: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Удаление из рейтинга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52750"/>
            <a:ext cx="5334000" cy="1552575"/>
          </a:xfrm>
          <a:prstGeom prst="roundRect">
            <a:avLst>
              <a:gd name="adj" fmla="val 9815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952750"/>
            <a:ext cx="5334000" cy="1552575"/>
          </a:xfrm>
          <a:prstGeom prst="roundRect">
            <a:avLst>
              <a:gd name="adj" fmla="val 9815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Результаты тестирования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756" y="3267075"/>
            <a:ext cx="5881687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16A34A"/>
                </a:solidFill>
                <a:latin typeface="Inter"/>
              </a:rPr>
              <a:t>&lt; 1.2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756" y="3990975"/>
            <a:ext cx="5881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15803D"/>
                </a:solidFill>
                <a:latin typeface="Inter"/>
              </a:rPr>
              <a:t>Среднее время отклика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4556" y="3267075"/>
            <a:ext cx="5881687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0284C7"/>
                </a:solidFill>
                <a:latin typeface="Inter"/>
              </a:rPr>
              <a:t>1000+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4556" y="3990975"/>
            <a:ext cx="5881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0369A1"/>
                </a:solidFill>
                <a:latin typeface="Inter"/>
              </a:rPr>
              <a:t>Синтетических записей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900362" y="4224337"/>
            <a:ext cx="6391275" cy="552450"/>
          </a:xfrm>
          <a:prstGeom prst="roundRect">
            <a:avLst>
              <a:gd name="adj" fmla="val 2068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081212"/>
            <a:ext cx="533400" cy="533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687" y="4386262"/>
            <a:ext cx="219075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95537" y="2843212"/>
            <a:ext cx="7400925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FFFFFF"/>
                </a:solidFill>
                <a:latin typeface="Inter"/>
              </a:rPr>
              <a:t>Проект успешно реализован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26468" y="3462337"/>
            <a:ext cx="77390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Inter"/>
              </a:rPr>
              <a:t>Все функциональные требования, структуры данных и тесты выполнены в полном объеме.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69406" y="4400550"/>
            <a:ext cx="6786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8FAFC"/>
                </a:solidFill>
                <a:latin typeface="JetBrains Mono"/>
              </a:rPr>
              <a:t>https://github.com/AbzalAbdusattar/PersonalFinanceTracker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447</Words>
  <Application>Microsoft Office PowerPoint</Application>
  <PresentationFormat>Широкоэкранный</PresentationFormat>
  <Paragraphs>67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JetBrains Mono</vt:lpstr>
      <vt:lpstr>Arial</vt:lpstr>
      <vt:lpstr>monospace</vt:lpstr>
      <vt:lpstr>Inter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Бакберген Сахи</cp:lastModifiedBy>
  <cp:revision>1</cp:revision>
  <dcterms:created xsi:type="dcterms:W3CDTF">2013-01-27T09:14:16Z</dcterms:created>
  <dcterms:modified xsi:type="dcterms:W3CDTF">2026-10-20T08:03:22Z</dcterms:modified>
  <cp:category/>
</cp:coreProperties>
</file>